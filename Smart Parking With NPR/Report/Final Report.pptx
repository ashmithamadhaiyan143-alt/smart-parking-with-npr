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84" r:id="rId5"/>
    <p:sldId id="259" r:id="rId6"/>
    <p:sldId id="260" r:id="rId7"/>
    <p:sldId id="261" r:id="rId8"/>
    <p:sldId id="288" r:id="rId9"/>
    <p:sldId id="287" r:id="rId10"/>
    <p:sldId id="292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1" r:id="rId19"/>
    <p:sldId id="286" r:id="rId20"/>
    <p:sldId id="272" r:id="rId21"/>
    <p:sldId id="273" r:id="rId22"/>
    <p:sldId id="297" r:id="rId23"/>
    <p:sldId id="276" r:id="rId24"/>
    <p:sldId id="277" r:id="rId25"/>
    <p:sldId id="285" r:id="rId26"/>
    <p:sldId id="293" r:id="rId27"/>
    <p:sldId id="294" r:id="rId28"/>
    <p:sldId id="295" r:id="rId29"/>
    <p:sldId id="296" r:id="rId30"/>
    <p:sldId id="281" r:id="rId31"/>
    <p:sldId id="298" r:id="rId32"/>
    <p:sldId id="282" r:id="rId33"/>
    <p:sldId id="283" r:id="rId34"/>
  </p:sldIdLst>
  <p:sldSz cx="9906000" cy="6858000" type="A4"/>
  <p:notesSz cx="9906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24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BE615-3D86-44EF-827D-1EEF183CBDC8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81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F6AD9-25B9-449F-8C0C-2866D7AC84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142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6244" y="1160378"/>
            <a:ext cx="2913379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28775" y="69849"/>
            <a:ext cx="7364095" cy="10621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9381" y="1080008"/>
            <a:ext cx="8727236" cy="4732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84309" y="6453098"/>
            <a:ext cx="269240" cy="2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878787"/>
                </a:solidFill>
                <a:latin typeface="Calibri"/>
                <a:cs typeface="Calibri"/>
              </a:defRPr>
            </a:lvl1pPr>
          </a:lstStyle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4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5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1424-8220/23/24/9741" TargetMode="Externa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1846" y="263143"/>
            <a:ext cx="77838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Times New Roman"/>
                <a:cs typeface="Times New Roman"/>
              </a:rPr>
              <a:t>AVINASHILINGAM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INSTITUTE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FOR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HOME</a:t>
            </a:r>
            <a:r>
              <a:rPr sz="2200" b="1" spc="-6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SCIENCE</a:t>
            </a:r>
            <a:r>
              <a:rPr sz="2200" b="1" spc="-65" dirty="0">
                <a:latin typeface="Times New Roman"/>
                <a:cs typeface="Times New Roman"/>
              </a:rPr>
              <a:t> </a:t>
            </a:r>
            <a:r>
              <a:rPr sz="2200" b="1" spc="-25" dirty="0"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1650" y="598119"/>
            <a:ext cx="4830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HIGHER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EDUCATION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WOMEN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6294" y="933958"/>
            <a:ext cx="823404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Times New Roman"/>
                <a:cs typeface="Times New Roman"/>
              </a:rPr>
              <a:t>SCHOOL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200" b="1" spc="-10" dirty="0">
                <a:latin typeface="Times New Roman"/>
                <a:cs typeface="Times New Roman"/>
              </a:rPr>
              <a:t>DEPARTMENT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OF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COMPUTER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SCIENCE</a:t>
            </a:r>
            <a:r>
              <a:rPr sz="2200" b="1" spc="-5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4741" y="2520563"/>
            <a:ext cx="7207884" cy="1473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0" marR="5080" indent="-2331085">
              <a:lnSpc>
                <a:spcPct val="112100"/>
              </a:lnSpc>
              <a:spcBef>
                <a:spcPts val="100"/>
              </a:spcBef>
              <a:tabLst>
                <a:tab pos="147510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SMART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PARKING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WITH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NUMBER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PLATE </a:t>
            </a:r>
            <a:r>
              <a:rPr sz="2800" b="1" spc="-10" dirty="0">
                <a:latin typeface="Times New Roman"/>
                <a:cs typeface="Times New Roman"/>
              </a:rPr>
              <a:t>RECOGNITION</a:t>
            </a:r>
            <a:endParaRPr lang="en-US" sz="2800" b="1" spc="-10" dirty="0">
              <a:latin typeface="Times New Roman"/>
              <a:cs typeface="Times New Roman"/>
            </a:endParaRPr>
          </a:p>
          <a:p>
            <a:pPr marL="2343150" marR="5080" indent="-2331085">
              <a:lnSpc>
                <a:spcPct val="112100"/>
              </a:lnSpc>
              <a:spcBef>
                <a:spcPts val="100"/>
              </a:spcBef>
              <a:tabLst>
                <a:tab pos="1475105" algn="l"/>
              </a:tabLst>
            </a:pPr>
            <a:r>
              <a:rPr lang="en-US" sz="2800" b="1" spc="-10" dirty="0">
                <a:latin typeface="Times New Roman"/>
                <a:cs typeface="Times New Roman"/>
              </a:rPr>
              <a:t>                        </a:t>
            </a:r>
            <a:endParaRPr lang="en-US" sz="28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79440" y="4523688"/>
            <a:ext cx="15119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3547" y="5138420"/>
            <a:ext cx="24511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ASHMITHA.M-23UEO006 LAKSHITHA.A-23UEO028 SAMVITHA.T-23UEO042 </a:t>
            </a:r>
            <a:r>
              <a:rPr sz="1600" spc="-20" dirty="0">
                <a:latin typeface="Times New Roman"/>
                <a:cs typeface="Times New Roman"/>
              </a:rPr>
              <a:t>THENMOZHI.M-</a:t>
            </a:r>
            <a:r>
              <a:rPr sz="1600" spc="-10" dirty="0">
                <a:latin typeface="Times New Roman"/>
                <a:cs typeface="Times New Roman"/>
              </a:rPr>
              <a:t>23UEO059 VARSHINI.S-23UEO060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200" y="4586212"/>
            <a:ext cx="342070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Guidance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of:</a:t>
            </a:r>
            <a:endParaRPr lang="en-US" sz="20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Mrs.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R.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sz="2000" b="1" spc="-10" dirty="0" err="1">
                <a:latin typeface="Times New Roman"/>
                <a:cs typeface="Times New Roman"/>
              </a:rPr>
              <a:t>PadmaPriya</a:t>
            </a:r>
            <a:r>
              <a:rPr lang="en-US" sz="2000" b="1" spc="-1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(AP/CSE)</a:t>
            </a:r>
            <a:endParaRPr sz="2000" b="1" dirty="0">
              <a:latin typeface="Times New Roman"/>
              <a:cs typeface="Times New Roman"/>
            </a:endParaRPr>
          </a:p>
        </p:txBody>
      </p:sp>
      <p:pic>
        <p:nvPicPr>
          <p:cNvPr id="1026" name="Picture 2" descr="Avinashilingam Institute | Coimbat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2" y="405829"/>
            <a:ext cx="1246763" cy="105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052052" y="6368973"/>
            <a:ext cx="11620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50" dirty="0">
                <a:solidFill>
                  <a:srgbClr val="878787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7364095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985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536244" y="1160378"/>
            <a:ext cx="3273756" cy="4900701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460375" indent="-427990" algn="just">
              <a:lnSpc>
                <a:spcPct val="100000"/>
              </a:lnSpc>
              <a:spcBef>
                <a:spcPts val="1535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60375" indent="-427990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03555" indent="-460375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50355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503555" indent="-460375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50355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60375" indent="-427990" algn="just">
              <a:lnSpc>
                <a:spcPct val="100000"/>
              </a:lnSpc>
              <a:spcBef>
                <a:spcPts val="1445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28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  <a:p>
            <a:pPr marL="460375" indent="-447675" algn="just">
              <a:lnSpc>
                <a:spcPct val="100000"/>
              </a:lnSpc>
              <a:spcBef>
                <a:spcPts val="1440"/>
              </a:spcBef>
              <a:buSzPct val="750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460375" indent="-447675" algn="just">
              <a:lnSpc>
                <a:spcPct val="100000"/>
              </a:lnSpc>
              <a:spcBef>
                <a:spcPts val="1440"/>
              </a:spcBef>
              <a:buSzPct val="750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460375" indent="-447675" algn="just">
              <a:lnSpc>
                <a:spcPct val="100000"/>
              </a:lnSpc>
              <a:spcBef>
                <a:spcPts val="1440"/>
              </a:spcBef>
              <a:buSzPct val="750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32400" y="1151381"/>
            <a:ext cx="3192399" cy="4290918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75285" indent="-342900" algn="just">
              <a:lnSpc>
                <a:spcPct val="100000"/>
              </a:lnSpc>
              <a:spcBef>
                <a:spcPts val="1440"/>
              </a:spcBef>
              <a:buSzPct val="62500"/>
              <a:buFont typeface="Arial" panose="020B0604020202020204" pitchFamily="34" charset="0"/>
              <a:buChar char="•"/>
              <a:tabLst>
                <a:tab pos="46037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5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5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 indent="-427990" algn="just">
              <a:lnSpc>
                <a:spcPct val="100000"/>
              </a:lnSpc>
              <a:spcBef>
                <a:spcPts val="1440"/>
              </a:spcBef>
              <a:buSzPct val="62500"/>
              <a:buFont typeface="Times New Roman"/>
              <a:buChar char="•"/>
              <a:tabLst>
                <a:tab pos="460375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7364095" cy="1062101"/>
          </a:xfrm>
          <a:prstGeom prst="rect">
            <a:avLst/>
          </a:prstGeom>
        </p:spPr>
        <p:txBody>
          <a:bodyPr vert="horz" wrap="square" lIns="0" tIns="530606" rIns="0" bIns="0" rtlCol="0">
            <a:spAutoFit/>
          </a:bodyPr>
          <a:lstStyle/>
          <a:p>
            <a:pPr marL="271145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81000" y="1131950"/>
            <a:ext cx="9220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 Smart Parking System using Number Plate Recognition (NPR) to automate and optimize the parking process.</a:t>
            </a:r>
          </a:p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camera or image input to capture the vehicle’s number plate. </a:t>
            </a:r>
          </a:p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captured image is processed using EasyOCR, an Optical Character Recognition tool, to accurately extract the vehicle number.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685800"/>
            <a:ext cx="8534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parking details, including vehicle number, slot number, entry time, and exit time, are stored in a database for efficient management.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dashboard displays real-time parking status, showing available slots and occupied slots.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updates the exit time when the vehicle leaves and frees the parking slot for future use. </a:t>
            </a:r>
          </a:p>
        </p:txBody>
      </p:sp>
    </p:spTree>
    <p:extLst>
      <p:ext uri="{BB962C8B-B14F-4D97-AF65-F5344CB8AC3E}">
        <p14:creationId xmlns:p14="http://schemas.microsoft.com/office/powerpoint/2010/main" val="172315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7364095" cy="753616"/>
          </a:xfrm>
          <a:prstGeom prst="rect">
            <a:avLst/>
          </a:prstGeom>
        </p:spPr>
        <p:txBody>
          <a:bodyPr vert="horz" wrap="square" lIns="0" tIns="228168" rIns="0" bIns="0" rtlCol="0">
            <a:spAutoFit/>
          </a:bodyPr>
          <a:lstStyle/>
          <a:p>
            <a:pPr marL="252857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39" y="1066800"/>
            <a:ext cx="8919210" cy="47044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8630" marR="5715" indent="-456565" algn="just">
              <a:lnSpc>
                <a:spcPct val="150000"/>
              </a:lnSpc>
              <a:spcBef>
                <a:spcPts val="105"/>
              </a:spcBef>
              <a:buSzPct val="57142"/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Smart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4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3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web-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application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that 	</a:t>
            </a:r>
            <a:r>
              <a:rPr sz="2800" dirty="0">
                <a:latin typeface="Times New Roman"/>
                <a:cs typeface="Times New Roman"/>
              </a:rPr>
              <a:t>helps</a:t>
            </a:r>
            <a:r>
              <a:rPr lang="en-US"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lang="en-US"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administrators</a:t>
            </a:r>
            <a:r>
              <a:rPr sz="2800" spc="3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monitor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3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 	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spaces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efficitenly.</a:t>
            </a:r>
            <a:endParaRPr sz="2800" dirty="0">
              <a:latin typeface="Times New Roman"/>
              <a:cs typeface="Times New Roman"/>
            </a:endParaRPr>
          </a:p>
          <a:p>
            <a:pPr marL="468630" marR="5080" indent="-456565" algn="just">
              <a:lnSpc>
                <a:spcPct val="150000"/>
              </a:lnSpc>
              <a:spcBef>
                <a:spcPts val="490"/>
              </a:spcBef>
              <a:buSzPct val="57142"/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5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2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uses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2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</a:t>
            </a:r>
            <a:r>
              <a:rPr sz="2800" spc="2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2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parking 	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5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5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slots,occupied</a:t>
            </a:r>
            <a:r>
              <a:rPr sz="2800" spc="5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slots,</a:t>
            </a:r>
            <a:r>
              <a:rPr sz="2800" spc="5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5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vechicle 	</a:t>
            </a:r>
            <a:r>
              <a:rPr sz="2800" dirty="0">
                <a:latin typeface="Times New Roman"/>
                <a:cs typeface="Times New Roman"/>
              </a:rPr>
              <a:t>entry/exit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details.</a:t>
            </a:r>
            <a:endParaRPr sz="2800" dirty="0">
              <a:latin typeface="Times New Roman"/>
              <a:cs typeface="Times New Roman"/>
            </a:endParaRPr>
          </a:p>
          <a:p>
            <a:pPr marL="469265" indent="-456565" algn="just">
              <a:lnSpc>
                <a:spcPct val="150000"/>
              </a:lnSpc>
              <a:spcBef>
                <a:spcPts val="840"/>
              </a:spcBef>
              <a:buSzPct val="57142"/>
              <a:buFont typeface="Microsoft Sans Serif"/>
              <a:buChar char="•"/>
              <a:tabLst>
                <a:tab pos="469265" algn="l"/>
              </a:tabLst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efficiency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20" dirty="0">
                <a:latin typeface="Times New Roman"/>
                <a:cs typeface="Times New Roman"/>
              </a:rPr>
              <a:t> work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454083"/>
            <a:ext cx="5777739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004" y="1536344"/>
            <a:ext cx="8866505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2400" algn="just">
              <a:lnSpc>
                <a:spcPct val="15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urban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areas,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finding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spaces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difficult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4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time-</a:t>
            </a:r>
            <a:r>
              <a:rPr sz="2800" dirty="0">
                <a:latin typeface="Times New Roman"/>
                <a:cs typeface="Times New Roman"/>
              </a:rPr>
              <a:t>consuming.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Traditional</a:t>
            </a:r>
            <a:r>
              <a:rPr sz="2800" spc="1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1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do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not </a:t>
            </a:r>
            <a:r>
              <a:rPr sz="2800" dirty="0">
                <a:latin typeface="Times New Roman"/>
                <a:cs typeface="Times New Roman"/>
              </a:rPr>
              <a:t>provide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real-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information</a:t>
            </a:r>
            <a:r>
              <a:rPr sz="2800" spc="43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about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slot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40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do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45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maintain</a:t>
            </a:r>
            <a:r>
              <a:rPr sz="2800" spc="4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proper</a:t>
            </a:r>
            <a:r>
              <a:rPr sz="2800" spc="4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records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4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4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59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exit.</a:t>
            </a:r>
            <a:r>
              <a:rPr sz="2800" spc="4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This </a:t>
            </a:r>
            <a:r>
              <a:rPr sz="2800" dirty="0">
                <a:latin typeface="Times New Roman"/>
                <a:cs typeface="Times New Roman"/>
              </a:rPr>
              <a:t>leads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congestion,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fuel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wastage,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8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inefficient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management.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7364095" cy="805091"/>
          </a:xfrm>
          <a:prstGeom prst="rect">
            <a:avLst/>
          </a:prstGeom>
        </p:spPr>
        <p:txBody>
          <a:bodyPr vert="horz" wrap="square" lIns="0" tIns="279145" rIns="0" bIns="0" rtlCol="0">
            <a:spAutoFit/>
          </a:bodyPr>
          <a:lstStyle/>
          <a:p>
            <a:pPr marL="2869565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416507"/>
            <a:ext cx="8971457" cy="32438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  <a:buSzPct val="39285"/>
              <a:tabLst>
                <a:tab pos="469900" algn="l"/>
                <a:tab pos="1014094" algn="l"/>
                <a:tab pos="2287905" algn="l"/>
                <a:tab pos="2594610" algn="l"/>
                <a:tab pos="3533140" algn="l"/>
                <a:tab pos="4771390" algn="l"/>
                <a:tab pos="5904865" algn="l"/>
                <a:tab pos="6470650" algn="l"/>
                <a:tab pos="7804150" algn="l"/>
              </a:tabLst>
            </a:pP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develop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smart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parking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system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for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efficient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space management, </a:t>
            </a:r>
            <a:r>
              <a:rPr lang="en-US" sz="2800" spc="-10" dirty="0">
                <a:latin typeface="Times New Roman"/>
                <a:cs typeface="Times New Roman"/>
              </a:rPr>
              <a:t>track vehicle entry and exit time </a:t>
            </a:r>
            <a:r>
              <a:rPr sz="2800" spc="-10" dirty="0">
                <a:latin typeface="Times New Roman"/>
                <a:cs typeface="Times New Roman"/>
              </a:rPr>
              <a:t>automatically</a:t>
            </a:r>
            <a:r>
              <a:rPr lang="en-US" sz="280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 display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occupied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slots, maintain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records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 database 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time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fuel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consumption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users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/>
          <p:cNvCxnSpPr/>
          <p:nvPr/>
        </p:nvCxnSpPr>
        <p:spPr>
          <a:xfrm>
            <a:off x="589383" y="6705600"/>
            <a:ext cx="0" cy="139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0"/>
            <a:ext cx="7364095" cy="5232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76020"/>
              </p:ext>
            </p:extLst>
          </p:nvPr>
        </p:nvGraphicFramePr>
        <p:xfrm>
          <a:off x="304798" y="914401"/>
          <a:ext cx="9296400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73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399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159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Evaluating the Impact of Smart Parking Systems on Parking Violations 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Atusa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Javaheri,Sai</a:t>
                      </a:r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Sneha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 IEEE Access(2024)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Collected parking data (2018–2023), applied an LSTM model for prediction, compared results with actual data, and validated using KS test with key factor analysis.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decreases due to image quality, skew/blur, varying formats, and environmental conditions.</a:t>
                      </a:r>
                    </a:p>
                    <a:p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599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Smart Real-Time Parking Control and Monitoring System.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Abdelrahman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Osman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Elfaki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Wassim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Messoudi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 is an international peer-reviewed journal by MDPI (2023).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(ESP32-CAM, sensors), AI/ML, and OCR-based ANPR with Firebase cloud and mobile app for smart parking detection.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Despite low OCR accuracy (~58%) and less reliable motion sensors, the system offers a low-cost and efficient smart parking solution.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55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589383" y="6705600"/>
            <a:ext cx="0" cy="139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810135"/>
              </p:ext>
            </p:extLst>
          </p:nvPr>
        </p:nvGraphicFramePr>
        <p:xfrm>
          <a:off x="304800" y="228600"/>
          <a:ext cx="9220200" cy="63335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3836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915"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Plate Recognition Smart Parking Management System using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b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Allah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Ditta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Muhammad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Maroof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Ahmed</a:t>
                      </a:r>
                    </a:p>
                    <a:p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Tehseen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Mazhar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MeasurementSensors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(Elsevier), Volume 37, 2025, DOI: 10.1016/j.measen.2024.101409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ANPR with OCR,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sensors (ESP32, IR),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OpenCV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Google Vision AI for detection, stores data via PHP-MySQL, and enables time tracking, billing, and display of parking details.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lighting/camera quality, costly to install, needs stable internet, raises privacy concerns, requires maintenance, and struggles with unclear plates.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75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-Integrated Parking Systems with Automated License Plate Recognition and Payment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Gulmini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Pradhan</a:t>
                      </a:r>
                    </a:p>
                    <a:p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Manas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Ranjan</a:t>
                      </a: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Prusty</a:t>
                      </a:r>
                      <a:endParaRPr lang="en-IN" sz="16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Scientific Reports (Springer Nature, 2025) 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smart parking with IR sensors, cameras, YOLO and OCR (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Tesseract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on Raspberry Pi/ESP32 for vehicle detection, tracking, slot allocation, and automated billing in real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is affected by lighting, image quality, camera positioning, and OCR errors on unclear or complex plates.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145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928112"/>
              </p:ext>
            </p:extLst>
          </p:nvPr>
        </p:nvGraphicFramePr>
        <p:xfrm>
          <a:off x="381000" y="457200"/>
          <a:ext cx="9220200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40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3836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2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Title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915"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Number Plate Recognition System Using Optical Character Recognition 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b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Monika Arora, Anubha Jain</a:t>
                      </a:r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Published in International Journal of Scientific Research in Computer Science, Engineering and Information Technology (IJSRCSEIT), 2019.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ANPR with OCR, edge detection and Hough transform, along with ANN and </a:t>
                      </a:r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classification, implemented on Android with database support.</a:t>
                      </a:r>
                    </a:p>
                    <a:p>
                      <a:endParaRPr lang="en-IN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Limitations:</a:t>
                      </a: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image quality and camera position, and decreases for blurred, skewed, or complex plate conditions.</a:t>
                      </a:r>
                    </a:p>
                    <a:p>
                      <a:endParaRPr lang="en-US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075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233" y="69849"/>
            <a:ext cx="400316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087" y="562372"/>
            <a:ext cx="9598025" cy="5856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7359" marR="5080" indent="-454659" algn="just">
              <a:lnSpc>
                <a:spcPct val="150000"/>
              </a:lnSpc>
              <a:spcBef>
                <a:spcPts val="105"/>
              </a:spcBef>
              <a:buSzPct val="75000"/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recorded</a:t>
            </a:r>
            <a:r>
              <a:rPr sz="2800" spc="3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manually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security</a:t>
            </a:r>
            <a:r>
              <a:rPr sz="2800" spc="3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guard</a:t>
            </a:r>
            <a:r>
              <a:rPr sz="2800" spc="4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4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register</a:t>
            </a:r>
            <a:r>
              <a:rPr sz="2800" spc="3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token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system.</a:t>
            </a:r>
            <a:r>
              <a:rPr sz="2800" spc="4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4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slow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depends</a:t>
            </a:r>
            <a:r>
              <a:rPr sz="2800" spc="4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completely</a:t>
            </a:r>
            <a:r>
              <a:rPr sz="2800" spc="43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4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human effort.</a:t>
            </a:r>
            <a:endParaRPr lang="en-US" sz="2800" dirty="0">
              <a:latin typeface="Times New Roman"/>
              <a:cs typeface="Times New Roman"/>
            </a:endParaRPr>
          </a:p>
          <a:p>
            <a:pPr marL="467359" marR="5080" indent="-454659" algn="just">
              <a:lnSpc>
                <a:spcPct val="150000"/>
              </a:lnSpc>
              <a:spcBef>
                <a:spcPts val="105"/>
              </a:spcBef>
              <a:buSzPct val="75000"/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details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stored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paper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registers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which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maintain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loss.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467359" marR="5080" indent="-454659" algn="just">
              <a:lnSpc>
                <a:spcPct val="150000"/>
              </a:lnSpc>
              <a:spcBef>
                <a:spcPts val="105"/>
              </a:spcBef>
              <a:buSzPct val="75000"/>
              <a:buFont typeface="Microsoft Sans Serif"/>
              <a:buChar char="•"/>
              <a:tabLst>
                <a:tab pos="469900" algn="l"/>
              </a:tabLst>
            </a:pPr>
            <a:r>
              <a:rPr sz="2800" spc="-10" dirty="0">
                <a:latin typeface="Times New Roman"/>
                <a:cs typeface="Times New Roman"/>
              </a:rPr>
              <a:t>There</a:t>
            </a:r>
            <a:r>
              <a:rPr lang="en-US" sz="2800" dirty="0">
                <a:latin typeface="Times New Roman"/>
                <a:cs typeface="Times New Roman"/>
              </a:rPr>
              <a:t> is no </a:t>
            </a:r>
            <a:r>
              <a:rPr sz="2800" spc="-10" dirty="0">
                <a:latin typeface="Times New Roman"/>
                <a:cs typeface="Times New Roman"/>
              </a:rPr>
              <a:t>automati</a:t>
            </a:r>
            <a:r>
              <a:rPr lang="en-US" sz="2800" spc="-10" dirty="0">
                <a:latin typeface="Times New Roman"/>
                <a:cs typeface="Times New Roman"/>
              </a:rPr>
              <a:t>c system</a:t>
            </a:r>
            <a:r>
              <a:rPr lang="en-US" sz="2800" dirty="0">
                <a:latin typeface="Times New Roman"/>
                <a:cs typeface="Times New Roman"/>
              </a:rPr>
              <a:t> to assign parking slots. Drivers have to </a:t>
            </a:r>
            <a:r>
              <a:rPr sz="2800" dirty="0">
                <a:latin typeface="Times New Roman"/>
                <a:cs typeface="Times New Roman"/>
              </a:rPr>
              <a:t>search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space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manually,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leading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confusion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inefficiency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ts val="1435"/>
              </a:lnSpc>
            </a:pPr>
            <a:fld id="{81D60167-4931-47E6-BA6A-407CBD079E47}" type="slidenum">
              <a:rPr spc="-50" dirty="0"/>
              <a:t>12</a:t>
            </a:fld>
            <a:endParaRPr spc="-50" dirty="0"/>
          </a:p>
        </p:txBody>
      </p:sp>
      <p:sp>
        <p:nvSpPr>
          <p:cNvPr id="2" name="object 2"/>
          <p:cNvSpPr txBox="1"/>
          <p:nvPr/>
        </p:nvSpPr>
        <p:spPr>
          <a:xfrm>
            <a:off x="255828" y="80162"/>
            <a:ext cx="8630285" cy="578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67335" indent="-457200" algn="just">
              <a:lnSpc>
                <a:spcPct val="150000"/>
              </a:lnSpc>
              <a:spcBef>
                <a:spcPts val="100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Both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entry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exit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take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manual </a:t>
            </a:r>
            <a:r>
              <a:rPr sz="2800" dirty="0">
                <a:latin typeface="Times New Roman"/>
                <a:cs typeface="Times New Roman"/>
              </a:rPr>
              <a:t>verification,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causing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queues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delays,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especially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peak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hours.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50000"/>
              </a:lnSpc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such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incorrect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numbers,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missing </a:t>
            </a:r>
            <a:r>
              <a:rPr sz="2800" dirty="0">
                <a:latin typeface="Times New Roman"/>
                <a:cs typeface="Times New Roman"/>
              </a:rPr>
              <a:t>records,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wrong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entries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common,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reducing reliability.</a:t>
            </a:r>
            <a:endParaRPr sz="2800" dirty="0">
              <a:latin typeface="Times New Roman"/>
              <a:cs typeface="Times New Roman"/>
            </a:endParaRPr>
          </a:p>
          <a:p>
            <a:pPr marL="469900" marR="47625" indent="-457200" algn="just">
              <a:lnSpc>
                <a:spcPct val="150000"/>
              </a:lnSpc>
              <a:spcBef>
                <a:spcPts val="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occupied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slots. </a:t>
            </a:r>
            <a:r>
              <a:rPr sz="2800" dirty="0">
                <a:latin typeface="Times New Roman"/>
                <a:cs typeface="Times New Roman"/>
              </a:rPr>
              <a:t>Users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administrators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cannot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track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status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or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movement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time.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7702"/>
            <a:ext cx="6948425" cy="714298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185670" algn="just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762000"/>
            <a:ext cx="9066530" cy="51466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177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camera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captures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vehicle’s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plate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</a:t>
            </a:r>
            <a:endParaRPr sz="28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1680"/>
              </a:spcBef>
            </a:pPr>
            <a:r>
              <a:rPr sz="2800" dirty="0">
                <a:latin typeface="Times New Roman"/>
                <a:cs typeface="Times New Roman"/>
              </a:rPr>
              <a:t>enters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area,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eliminating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manual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entry.</a:t>
            </a:r>
            <a:endParaRPr sz="2800" dirty="0">
              <a:latin typeface="Times New Roman"/>
              <a:cs typeface="Times New Roman"/>
            </a:endParaRPr>
          </a:p>
          <a:p>
            <a:pPr marL="469900" marR="270510" indent="-457834" algn="just">
              <a:lnSpc>
                <a:spcPct val="150000"/>
              </a:lnSpc>
              <a:spcBef>
                <a:spcPts val="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(like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EasyOCR),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automatically </a:t>
            </a:r>
            <a:r>
              <a:rPr sz="2800" dirty="0">
                <a:latin typeface="Times New Roman"/>
                <a:cs typeface="Times New Roman"/>
              </a:rPr>
              <a:t>extracts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image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accurately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and </a:t>
            </a:r>
            <a:r>
              <a:rPr sz="2800" spc="-10" dirty="0">
                <a:latin typeface="Times New Roman"/>
                <a:cs typeface="Times New Roman"/>
              </a:rPr>
              <a:t>quickly.</a:t>
            </a:r>
            <a:endParaRPr sz="2800" dirty="0">
              <a:latin typeface="Times New Roman"/>
              <a:cs typeface="Times New Roman"/>
            </a:endParaRPr>
          </a:p>
          <a:p>
            <a:pPr marL="469900" marR="64135" indent="-457834" algn="just">
              <a:lnSpc>
                <a:spcPct val="150000"/>
              </a:lnSpc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automatically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next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parking </a:t>
            </a:r>
            <a:r>
              <a:rPr sz="2800" dirty="0">
                <a:latin typeface="Times New Roman"/>
                <a:cs typeface="Times New Roman"/>
              </a:rPr>
              <a:t>slot,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ensuring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efficient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space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utilization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avoiding confusion.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9760" y="1072896"/>
            <a:ext cx="915669" cy="1153160"/>
            <a:chOff x="1889760" y="1072896"/>
            <a:chExt cx="915669" cy="11531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760" y="1072896"/>
              <a:ext cx="915162" cy="74752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760" y="1478280"/>
              <a:ext cx="915162" cy="747522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09600" y="609601"/>
            <a:ext cx="8476157" cy="5651932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365"/>
              </a:spcBef>
              <a:buSzPct val="57142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dashboard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displays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as:</a:t>
            </a:r>
            <a:endParaRPr sz="2800" dirty="0">
              <a:latin typeface="Times New Roman"/>
              <a:cs typeface="Times New Roman"/>
            </a:endParaRPr>
          </a:p>
          <a:p>
            <a:pPr marL="2088514" marR="5015865" algn="just">
              <a:lnSpc>
                <a:spcPts val="3190"/>
              </a:lnSpc>
              <a:spcBef>
                <a:spcPts val="509"/>
              </a:spcBef>
            </a:pPr>
            <a:r>
              <a:rPr sz="2800" spc="-10" dirty="0">
                <a:latin typeface="Times New Roman"/>
                <a:cs typeface="Times New Roman"/>
              </a:rPr>
              <a:t>Available Occupied</a:t>
            </a:r>
            <a:endParaRPr sz="2800" dirty="0">
              <a:latin typeface="Times New Roman"/>
              <a:cs typeface="Times New Roman"/>
            </a:endParaRPr>
          </a:p>
          <a:p>
            <a:pPr marL="596265" marR="304800" lvl="1" indent="-457200" algn="just">
              <a:lnSpc>
                <a:spcPct val="130000"/>
              </a:lnSpc>
              <a:spcBef>
                <a:spcPts val="20"/>
              </a:spcBef>
              <a:buSzPct val="61538"/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helps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administrators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monitor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parking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status instantly.</a:t>
            </a:r>
            <a:endParaRPr sz="2600" dirty="0">
              <a:latin typeface="Times New Roman"/>
              <a:cs typeface="Times New Roman"/>
            </a:endParaRPr>
          </a:p>
          <a:p>
            <a:pPr marL="596265" marR="285750" lvl="1" indent="-457200" algn="just">
              <a:lnSpc>
                <a:spcPct val="130100"/>
              </a:lnSpc>
              <a:spcBef>
                <a:spcPts val="500"/>
              </a:spcBef>
              <a:buSzPct val="61538"/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sz="2600" dirty="0">
                <a:latin typeface="Times New Roman"/>
                <a:cs typeface="Times New Roman"/>
              </a:rPr>
              <a:t>Entry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exit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recorded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automatically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database,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enabling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accurate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tracking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vehicle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movement.</a:t>
            </a:r>
            <a:endParaRPr sz="2600" dirty="0">
              <a:latin typeface="Times New Roman"/>
              <a:cs typeface="Times New Roman"/>
            </a:endParaRPr>
          </a:p>
          <a:p>
            <a:pPr marL="596265" marR="5080" lvl="1" indent="-457200" algn="just">
              <a:lnSpc>
                <a:spcPct val="130000"/>
              </a:lnSpc>
              <a:spcBef>
                <a:spcPts val="505"/>
              </a:spcBef>
              <a:buSzPct val="61538"/>
              <a:buFont typeface="Arial" panose="020B0604020202020204" pitchFamily="34" charset="0"/>
              <a:buChar char="•"/>
              <a:tabLst>
                <a:tab pos="46990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minimizes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human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involvement,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reduces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errors, </a:t>
            </a:r>
            <a:r>
              <a:rPr sz="2600" dirty="0">
                <a:latin typeface="Times New Roman"/>
                <a:cs typeface="Times New Roman"/>
              </a:rPr>
              <a:t>speeds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up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process,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provides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smooth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automated </a:t>
            </a:r>
            <a:r>
              <a:rPr sz="2600" dirty="0">
                <a:latin typeface="Times New Roman"/>
                <a:cs typeface="Times New Roman"/>
              </a:rPr>
              <a:t>parking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experience.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075" y="6452870"/>
            <a:ext cx="2057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25" dirty="0">
                <a:solidFill>
                  <a:srgbClr val="878787"/>
                </a:solidFill>
                <a:latin typeface="Calibri"/>
                <a:cs typeface="Calibri"/>
              </a:rPr>
              <a:t>10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00400" y="209181"/>
            <a:ext cx="7364095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2" descr="Smart parking system block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9445"/>
            <a:ext cx="9906000" cy="43791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09075" y="6452870"/>
            <a:ext cx="205740" cy="20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25" dirty="0">
                <a:solidFill>
                  <a:srgbClr val="878787"/>
                </a:solidFill>
                <a:latin typeface="Calibri"/>
                <a:cs typeface="Calibri"/>
              </a:rPr>
              <a:t>12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21420"/>
            <a:ext cx="7364095" cy="1017457"/>
          </a:xfrm>
          <a:prstGeom prst="rect">
            <a:avLst/>
          </a:prstGeom>
        </p:spPr>
        <p:txBody>
          <a:bodyPr vert="horz" wrap="square" lIns="0" tIns="489457" rIns="0" bIns="0" rtlCol="0">
            <a:spAutoFit/>
          </a:bodyPr>
          <a:lstStyle/>
          <a:p>
            <a:pPr marL="253873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6580" y="1138877"/>
            <a:ext cx="8635365" cy="469295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595"/>
              </a:spcBef>
              <a:buSzPct val="61538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entry/exit is detected using sensors or cameras, identifying movement and initiating the parking process</a:t>
            </a:r>
          </a:p>
          <a:p>
            <a:pPr marL="469900" indent="-457200" algn="just">
              <a:lnSpc>
                <a:spcPct val="100000"/>
              </a:lnSpc>
              <a:spcBef>
                <a:spcPts val="595"/>
              </a:spcBef>
              <a:buSzPct val="61538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capture vehicle data, check slot availability, and send information to the system</a:t>
            </a:r>
          </a:p>
          <a:p>
            <a:pPr marL="469900" indent="-457200" algn="just">
              <a:lnSpc>
                <a:spcPct val="100000"/>
              </a:lnSpc>
              <a:spcBef>
                <a:spcPts val="595"/>
              </a:spcBef>
              <a:buSzPct val="61538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server processes the data, manages parking logic, and updates real-time status</a:t>
            </a:r>
          </a:p>
          <a:p>
            <a:pPr marL="469900" indent="-457200" algn="just">
              <a:lnSpc>
                <a:spcPct val="100000"/>
              </a:lnSpc>
              <a:spcBef>
                <a:spcPts val="595"/>
              </a:spcBef>
              <a:buSzPct val="61538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stores all details such as entry/exit time, vehicle information, and slot allocation</a:t>
            </a:r>
          </a:p>
          <a:p>
            <a:pPr marL="469900" indent="-457200" algn="just">
              <a:lnSpc>
                <a:spcPct val="100000"/>
              </a:lnSpc>
              <a:spcBef>
                <a:spcPts val="595"/>
              </a:spcBef>
              <a:buSzPct val="61538"/>
              <a:buFont typeface="Arial" panose="020B0604020202020204" pitchFamily="34" charset="0"/>
              <a:buChar char="•"/>
              <a:tabLst>
                <a:tab pos="46926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and admin panel display parking status, allow user interaction, and enable system monitoring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109709" y="6453098"/>
            <a:ext cx="20574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spc="-25" dirty="0">
                <a:solidFill>
                  <a:srgbClr val="878787"/>
                </a:solidFill>
                <a:latin typeface="Calibri"/>
                <a:cs typeface="Calibri"/>
              </a:rPr>
              <a:t>14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152400"/>
            <a:ext cx="7364095" cy="872802"/>
          </a:xfrm>
          <a:prstGeom prst="rect">
            <a:avLst/>
          </a:prstGeom>
        </p:spPr>
        <p:txBody>
          <a:bodyPr vert="horz" wrap="square" lIns="0" tIns="346201" rIns="0" bIns="0" rtlCol="0">
            <a:spAutoFit/>
          </a:bodyPr>
          <a:lstStyle/>
          <a:p>
            <a:pPr marL="2503805" algn="just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295400"/>
            <a:ext cx="8020049" cy="68371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b="1" spc="-10" dirty="0">
                <a:latin typeface="Times New Roman"/>
                <a:cs typeface="Times New Roman"/>
              </a:rPr>
              <a:t>MODULE 1: </a:t>
            </a:r>
            <a:r>
              <a:rPr lang="en-US" sz="3100" spc="-10" dirty="0">
                <a:latin typeface="Times New Roman"/>
                <a:cs typeface="Times New Roman"/>
              </a:rPr>
              <a:t>User Interface Module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b="1" spc="-10" dirty="0">
                <a:latin typeface="Times New Roman"/>
                <a:cs typeface="Times New Roman"/>
              </a:rPr>
              <a:t>MODULE 2:</a:t>
            </a:r>
            <a:r>
              <a:rPr lang="en-US" sz="3100" spc="-10" dirty="0">
                <a:latin typeface="Times New Roman"/>
                <a:cs typeface="Times New Roman"/>
              </a:rPr>
              <a:t> User Authentication Module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b="1" spc="-10" dirty="0">
                <a:latin typeface="Times New Roman"/>
                <a:cs typeface="Times New Roman"/>
              </a:rPr>
              <a:t>MODULE 3: </a:t>
            </a:r>
            <a:r>
              <a:rPr lang="en-US" sz="3100" spc="-10" dirty="0">
                <a:latin typeface="Times New Roman"/>
                <a:cs typeface="Times New Roman"/>
              </a:rPr>
              <a:t>Vehicle Registration and Detection   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spc="-10" dirty="0">
                <a:latin typeface="Times New Roman"/>
                <a:cs typeface="Times New Roman"/>
              </a:rPr>
              <a:t>                       Module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b="1" spc="-10" dirty="0">
                <a:latin typeface="Times New Roman"/>
                <a:cs typeface="Times New Roman"/>
              </a:rPr>
              <a:t>MODULE 4:</a:t>
            </a:r>
            <a:r>
              <a:rPr lang="en-US" sz="3100" spc="-10" dirty="0">
                <a:latin typeface="Times New Roman"/>
                <a:cs typeface="Times New Roman"/>
              </a:rPr>
              <a:t> Parking Slot Management Module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r>
              <a:rPr lang="en-US" sz="3100" b="1" spc="-10" dirty="0">
                <a:latin typeface="Times New Roman"/>
                <a:cs typeface="Times New Roman"/>
              </a:rPr>
              <a:t>MODULE 5:</a:t>
            </a:r>
            <a:r>
              <a:rPr lang="en-US" sz="3100" spc="-10" dirty="0">
                <a:latin typeface="Times New Roman"/>
                <a:cs typeface="Times New Roman"/>
              </a:rPr>
              <a:t> Database Management Module</a:t>
            </a:r>
          </a:p>
          <a:p>
            <a:pPr marL="9525" algn="just">
              <a:lnSpc>
                <a:spcPct val="150000"/>
              </a:lnSpc>
              <a:spcBef>
                <a:spcPts val="95"/>
              </a:spcBef>
              <a:buSzPct val="96774"/>
              <a:tabLst>
                <a:tab pos="307975" algn="l"/>
              </a:tabLst>
            </a:pPr>
            <a:endParaRPr sz="3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160"/>
              </a:spcBef>
              <a:buFont typeface="Times New Roman"/>
              <a:buAutoNum type="arabicPeriod"/>
            </a:pPr>
            <a:endParaRPr sz="3100" dirty="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1150"/>
              </a:spcBef>
              <a:buFont typeface="Times New Roman"/>
              <a:buAutoNum type="arabicPeriod"/>
            </a:pPr>
            <a:endParaRPr sz="3100" dirty="0">
              <a:latin typeface="Times New Roman"/>
              <a:cs typeface="Times New Roman"/>
            </a:endParaRPr>
          </a:p>
          <a:p>
            <a:pPr marL="9525" algn="just">
              <a:lnSpc>
                <a:spcPct val="100000"/>
              </a:lnSpc>
              <a:buSzPct val="96774"/>
              <a:tabLst>
                <a:tab pos="307975" algn="l"/>
              </a:tabLst>
            </a:pPr>
            <a:endParaRPr sz="3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456419" y="6386991"/>
            <a:ext cx="26035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585858"/>
                </a:solidFill>
                <a:latin typeface="Arial MT"/>
                <a:cs typeface="Arial MT"/>
              </a:rPr>
              <a:t>18</a:t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64312" y="2055622"/>
            <a:ext cx="586028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SzPct val="69230"/>
              <a:buFont typeface="Arial" panose="020B0604020202020204" pitchFamily="34" charset="0"/>
              <a:buChar char="•"/>
              <a:tabLst>
                <a:tab pos="469265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8259" y="1371600"/>
            <a:ext cx="8898510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involved: home.html, home.css, result.html, result.css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 </a:t>
            </a:r>
          </a:p>
          <a:p>
            <a:pPr marL="12700" lvl="1" algn="just">
              <a:lnSpc>
                <a:spcPct val="150000"/>
              </a:lnSpc>
              <a:spcBef>
                <a:spcPts val="1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Display home page. Shows messages. Handles user 	interaction.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364095" cy="740716"/>
          </a:xfrm>
          <a:prstGeom prst="rect">
            <a:avLst/>
          </a:prstGeom>
        </p:spPr>
        <p:txBody>
          <a:bodyPr vert="horz" wrap="square" lIns="0" tIns="215392" rIns="0" bIns="0" rtlCol="0">
            <a:spAutoFit/>
          </a:bodyPr>
          <a:lstStyle/>
          <a:p>
            <a:pPr marL="2280920" algn="just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1.User Interface Module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7364095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2.User Authentication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381" y="1080008"/>
            <a:ext cx="8727236" cy="387798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involved: login.html, login.css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module handles user login functionality. It ensures only authorized users can access the parking system. Takes username &amp; password input. Validates credentials using backend. Redirects to dashboard after successful login</a:t>
            </a:r>
            <a:r>
              <a:rPr lang="en-IN" dirty="0"/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153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456419" y="6386991"/>
            <a:ext cx="26035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585858"/>
                </a:solidFill>
                <a:latin typeface="Arial MT"/>
                <a:cs typeface="Arial MT"/>
              </a:rPr>
              <a:t>20</a:t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8015225" cy="966930"/>
          </a:xfrm>
          <a:prstGeom prst="rect">
            <a:avLst/>
          </a:prstGeom>
        </p:spPr>
        <p:txBody>
          <a:bodyPr vert="horz" wrap="square" lIns="0" tIns="43941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654" y="1295400"/>
            <a:ext cx="8914765" cy="39504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42900" indent="-330200" algn="just">
              <a:lnSpc>
                <a:spcPct val="150000"/>
              </a:lnSpc>
              <a:spcBef>
                <a:spcPts val="565"/>
              </a:spcBef>
              <a:buClr>
                <a:srgbClr val="585858"/>
              </a:buClr>
              <a:buSzPct val="61538"/>
              <a:buFont typeface="Microsoft Sans Serif"/>
              <a:buChar char="●"/>
              <a:tabLst>
                <a:tab pos="3429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involved: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register.html,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ocr.py,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script.js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marR="5080" indent="-330200" algn="just">
              <a:lnSpc>
                <a:spcPct val="150000"/>
              </a:lnSpc>
              <a:buClr>
                <a:srgbClr val="585858"/>
              </a:buClr>
              <a:buSzPct val="61538"/>
              <a:buFont typeface="Microsoft Sans Serif"/>
              <a:buChar char="●"/>
              <a:tabLst>
                <a:tab pos="3435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just">
              <a:lnSpc>
                <a:spcPct val="150000"/>
              </a:lnSpc>
              <a:buClr>
                <a:srgbClr val="585858"/>
              </a:buClr>
              <a:buSzPct val="61538"/>
              <a:tabLst>
                <a:tab pos="343535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800" spc="4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sz="28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sz="28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project.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sz="2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2800"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</a:t>
            </a:r>
            <a:r>
              <a:rPr sz="2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(ocr.py)</a:t>
            </a:r>
            <a:r>
              <a:rPr sz="28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sz="2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2800" spc="5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r>
              <a:rPr sz="2800" spc="5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800" spc="5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sz="2800" spc="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800" spc="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2800" spc="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557" y="197751"/>
            <a:ext cx="7558025" cy="795218"/>
          </a:xfrm>
          <a:prstGeom prst="rect">
            <a:avLst/>
          </a:prstGeom>
        </p:spPr>
        <p:txBody>
          <a:bodyPr vert="horz" wrap="square" lIns="0" tIns="269367" rIns="0" bIns="0" rtlCol="0">
            <a:spAutoFit/>
          </a:bodyPr>
          <a:lstStyle/>
          <a:p>
            <a:pPr marL="746125" algn="just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Parking</a:t>
            </a:r>
            <a:r>
              <a:rPr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Slot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123379"/>
            <a:ext cx="8721141" cy="4740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50000"/>
              </a:lnSpc>
              <a:spcBef>
                <a:spcPts val="10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involved: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dashboard.html,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dashboard.css,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indent="-457200">
              <a:lnSpc>
                <a:spcPct val="150000"/>
              </a:lnSpc>
              <a:spcBef>
                <a:spcPts val="105"/>
              </a:spcBef>
              <a:buFont typeface="Microsoft Sans Serif"/>
              <a:buChar char="•"/>
              <a:tabLst>
                <a:tab pos="469900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50000"/>
              </a:lnSpc>
              <a:spcBef>
                <a:spcPts val="105"/>
              </a:spcBef>
              <a:tabLst>
                <a:tab pos="4699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module manages parking slots visually, it shows Available Slots(green     )&amp;Occupied Slots(red     ),updates automatically when a vehicle is registered. Prevents overbooking(max 35 slots).</a:t>
            </a:r>
          </a:p>
          <a:p>
            <a:pPr marL="469900" indent="-457200">
              <a:lnSpc>
                <a:spcPct val="100000"/>
              </a:lnSpc>
              <a:spcBef>
                <a:spcPts val="3120"/>
              </a:spcBef>
              <a:buFont typeface="Microsoft Sans Serif"/>
              <a:buChar char="•"/>
              <a:tabLst>
                <a:tab pos="469900" algn="l"/>
              </a:tabLst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6419" y="6386991"/>
            <a:ext cx="26035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585858"/>
                </a:solidFill>
                <a:latin typeface="Arial MT"/>
                <a:cs typeface="Arial MT"/>
              </a:rPr>
              <a:t>21</a:t>
            </a:fld>
            <a:endParaRPr sz="1200">
              <a:latin typeface="Arial MT"/>
              <a:cs typeface="Arial MT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3581400" y="3276600"/>
            <a:ext cx="304800" cy="3048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/>
          <p:cNvSpPr/>
          <p:nvPr/>
        </p:nvSpPr>
        <p:spPr>
          <a:xfrm>
            <a:off x="7391400" y="3276600"/>
            <a:ext cx="304800" cy="33129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364095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Management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381" y="1080008"/>
            <a:ext cx="8727236" cy="344709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involved: database.py, parking.db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all data storage and retrieval. It stores vehicle number plates and slot allocation details. Performs CRUD operations(Create , Read , Update , Delete) and ensures no duplicate or overflow entries.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432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90759" y="-43504"/>
            <a:ext cx="1938402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/>
                <a:cs typeface="Times New Roman"/>
              </a:rPr>
              <a:t>O</a:t>
            </a:r>
            <a:r>
              <a:rPr lang="en-US" spc="-10" dirty="0">
                <a:latin typeface="Times New Roman"/>
                <a:cs typeface="Times New Roman"/>
              </a:rPr>
              <a:t>UTPUT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05009" y="6544767"/>
            <a:ext cx="20574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878787"/>
                </a:solidFill>
                <a:latin typeface="Calibri"/>
                <a:cs typeface="Calibri"/>
              </a:rPr>
              <a:t>21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711826"/>
            <a:ext cx="6929120" cy="29805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69157"/>
            <a:ext cx="7010400" cy="29598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797" y="3644162"/>
            <a:ext cx="6766941" cy="30130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0" y="50419"/>
            <a:ext cx="6746240" cy="31601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38137"/>
            <a:ext cx="92964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790575"/>
            <a:ext cx="9296401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7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304800"/>
            <a:ext cx="5825870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9803" y="990600"/>
            <a:ext cx="9571851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efficiently records vehicle entry and exit details.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Parking slots are automatically allocated based on availability.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grid view clearly shows occupied and free slots.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accurately in the database (SQLite).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errors and workload.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is fast and reliable for small-scale parking. </a:t>
            </a:r>
          </a:p>
        </p:txBody>
      </p:sp>
    </p:spTree>
    <p:extLst>
      <p:ext uri="{BB962C8B-B14F-4D97-AF65-F5344CB8AC3E}">
        <p14:creationId xmlns:p14="http://schemas.microsoft.com/office/powerpoint/2010/main" val="162644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228600"/>
            <a:ext cx="7364095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066800"/>
            <a:ext cx="8864927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Automation improves parking efficiency and management.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systems provide real-time monitoring.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Slot allocation ensures better space utilization.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systems reduce human dependency.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scalable for larger applications.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enhanced with OCR, </a:t>
            </a:r>
            <a:r>
              <a:rPr kumimoji="0" 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AI technologies. </a:t>
            </a:r>
          </a:p>
        </p:txBody>
      </p:sp>
    </p:spTree>
    <p:extLst>
      <p:ext uri="{BB962C8B-B14F-4D97-AF65-F5344CB8AC3E}">
        <p14:creationId xmlns:p14="http://schemas.microsoft.com/office/powerpoint/2010/main" val="1124063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69849"/>
            <a:ext cx="5597270" cy="52322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791" y="762000"/>
            <a:ext cx="8396850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to build a Flask-based web application.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knowledge of HTML and CSS frontend design.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Understood database integration using SQLite.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CRUD operations in real-world use case.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debugging skills.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integration of frontend, backend, and database. </a:t>
            </a:r>
          </a:p>
        </p:txBody>
      </p:sp>
    </p:spTree>
    <p:extLst>
      <p:ext uri="{BB962C8B-B14F-4D97-AF65-F5344CB8AC3E}">
        <p14:creationId xmlns:p14="http://schemas.microsoft.com/office/powerpoint/2010/main" val="3053040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214084"/>
            <a:ext cx="3770630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  <a:tabLst>
                <a:tab pos="163957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8935" y="900429"/>
            <a:ext cx="9084614" cy="5427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 algn="just">
              <a:buFont typeface="Arial" panose="020B0604020202020204" pitchFamily="34" charset="0"/>
              <a:buChar char="•"/>
            </a:pPr>
            <a:r>
              <a:rPr sz="2800" b="1" spc="-10" dirty="0">
                <a:latin typeface="Times New Roman"/>
                <a:cs typeface="Times New Roman"/>
              </a:rPr>
              <a:t>AI-</a:t>
            </a:r>
            <a:r>
              <a:rPr sz="2800" b="1" dirty="0">
                <a:latin typeface="Times New Roman"/>
                <a:cs typeface="Times New Roman"/>
              </a:rPr>
              <a:t>based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prediction: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Predicts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parking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availability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congestion.</a:t>
            </a:r>
            <a:endParaRPr sz="2800" dirty="0">
              <a:latin typeface="Times New Roman"/>
              <a:cs typeface="Times New Roman"/>
            </a:endParaRPr>
          </a:p>
          <a:p>
            <a:pPr marL="469900" marR="5080" indent="-457200" algn="just"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Times New Roman"/>
                <a:cs typeface="Times New Roman"/>
              </a:rPr>
              <a:t>Smart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city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integration: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Connects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traffic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centralized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monitoring. 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469900" marR="899794" indent="-457200" algn="just">
              <a:spcBef>
                <a:spcPts val="655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Times New Roman"/>
                <a:cs typeface="Times New Roman"/>
              </a:rPr>
              <a:t>Enhanced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security: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Tracks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vehicles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detects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unauthorized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entry. 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469900" marR="899794" indent="-457200" algn="just">
              <a:spcBef>
                <a:spcPts val="655"/>
              </a:spcBef>
              <a:buFont typeface="Arial" panose="020B0604020202020204" pitchFamily="34" charset="0"/>
              <a:buChar char="•"/>
            </a:pPr>
            <a:r>
              <a:rPr sz="2800" b="1" dirty="0">
                <a:latin typeface="Times New Roman"/>
                <a:cs typeface="Times New Roman"/>
              </a:rPr>
              <a:t>Autonomous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vehicles: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self-</a:t>
            </a:r>
            <a:r>
              <a:rPr sz="2800" dirty="0">
                <a:latin typeface="Times New Roman"/>
                <a:cs typeface="Times New Roman"/>
              </a:rPr>
              <a:t>driving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cars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automatic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parking</a:t>
            </a:r>
            <a:endParaRPr lang="en-US" sz="2800" spc="-10" dirty="0">
              <a:latin typeface="Times New Roman"/>
              <a:cs typeface="Times New Roman"/>
            </a:endParaRPr>
          </a:p>
          <a:p>
            <a:pPr marL="469900" indent="-457200" algn="just"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/>
                <a:cs typeface="Times New Roman"/>
              </a:rPr>
              <a:t>Cloud</a:t>
            </a:r>
            <a:r>
              <a:rPr lang="en-US" sz="2800" b="1" spc="-20" dirty="0">
                <a:latin typeface="Times New Roman"/>
                <a:cs typeface="Times New Roman"/>
              </a:rPr>
              <a:t> </a:t>
            </a:r>
            <a:r>
              <a:rPr lang="en-US" sz="2800" b="1" dirty="0">
                <a:latin typeface="Times New Roman"/>
                <a:cs typeface="Times New Roman"/>
              </a:rPr>
              <a:t>storage:</a:t>
            </a:r>
            <a:r>
              <a:rPr lang="en-US" sz="2800" b="1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Stores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analyzes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parking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data</a:t>
            </a:r>
            <a:r>
              <a:rPr lang="en-US" sz="2800" spc="-1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efficiently.</a:t>
            </a:r>
            <a:endParaRPr lang="en-US" sz="2800" dirty="0">
              <a:latin typeface="Times New Roman"/>
              <a:cs typeface="Times New Roman"/>
            </a:endParaRPr>
          </a:p>
          <a:p>
            <a:pPr marL="469900" marR="1324610" indent="-457200" algn="just">
              <a:spcBef>
                <a:spcPts val="455"/>
              </a:spcBef>
              <a:buFont typeface="Arial" panose="020B0604020202020204" pitchFamily="34" charset="0"/>
              <a:buChar char="•"/>
            </a:pPr>
            <a:r>
              <a:rPr lang="en-US" sz="2800" b="1" spc="-10" dirty="0">
                <a:latin typeface="Times New Roman"/>
                <a:cs typeface="Times New Roman"/>
              </a:rPr>
              <a:t>Eco-</a:t>
            </a:r>
            <a:r>
              <a:rPr lang="en-US" sz="2800" b="1" dirty="0">
                <a:latin typeface="Times New Roman"/>
                <a:cs typeface="Times New Roman"/>
              </a:rPr>
              <a:t>friendly:</a:t>
            </a:r>
            <a:r>
              <a:rPr lang="en-US" sz="2800" spc="-6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Reduces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fuel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consumption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and</a:t>
            </a:r>
            <a:r>
              <a:rPr lang="en-US" sz="2800" spc="-30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pollution.</a:t>
            </a:r>
            <a:r>
              <a:rPr lang="en-US" sz="2800" spc="500" dirty="0"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  <a:p>
            <a:pPr marL="469900" indent="-457200" algn="just">
              <a:spcBef>
                <a:spcPts val="5"/>
              </a:spcBef>
              <a:buFont typeface="Arial" panose="020B0604020202020204" pitchFamily="34" charset="0"/>
              <a:buChar char="•"/>
            </a:pP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775" y="69849"/>
            <a:ext cx="7364095" cy="523220"/>
          </a:xfrm>
        </p:spPr>
        <p:txBody>
          <a:bodyPr/>
          <a:lstStyle/>
          <a:p>
            <a:pPr algn="just"/>
            <a:r>
              <a:rPr lang="en-US" dirty="0"/>
              <a:t>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381" y="1080008"/>
            <a:ext cx="8727236" cy="2523768"/>
          </a:xfrm>
        </p:spPr>
        <p:txBody>
          <a:bodyPr/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efficient solution for managing parking spaces through real-time monitoring and a user-friendly dashboard. It reduces manual effort, improves space utilization, and enhances overall parking management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3014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69849"/>
            <a:ext cx="7364095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9060" algn="just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575" y="1365580"/>
            <a:ext cx="8916974" cy="485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115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https://ieeexplore.ieee.org/document/10758649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https://www.mdpi.com/1424-8220/23/24/9741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https://www.sciencedirect.com/science/article/pii/S2665917424003854</a:t>
            </a: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https://www.nature.com/articles/s41598-025-86441-w</a:t>
            </a: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12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https://www.academia.edu/download/71154866/cseit1952280.pdf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5870" y="2514600"/>
            <a:ext cx="7568439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8000" spc="-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8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</TotalTime>
  <Words>1451</Words>
  <Application>Microsoft Office PowerPoint</Application>
  <PresentationFormat>A4 Paper (210x297 mm)</PresentationFormat>
  <Paragraphs>216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HIGHER EDUCATION FOR WOMEN</vt:lpstr>
      <vt:lpstr>AGENDA</vt:lpstr>
      <vt:lpstr>ABSTRACT</vt:lpstr>
      <vt:lpstr>PowerPoint Presentation</vt:lpstr>
      <vt:lpstr>INTRODUCTION</vt:lpstr>
      <vt:lpstr>PROBLEM STATEMENT</vt:lpstr>
      <vt:lpstr>OBJECTIVE</vt:lpstr>
      <vt:lpstr>LITERATURE SURVEY</vt:lpstr>
      <vt:lpstr>PowerPoint Presentation</vt:lpstr>
      <vt:lpstr>PowerPoint Presentation</vt:lpstr>
      <vt:lpstr>EXISTING SYSTEM</vt:lpstr>
      <vt:lpstr>PowerPoint Presentation</vt:lpstr>
      <vt:lpstr>PROPOSED SYSTEM</vt:lpstr>
      <vt:lpstr>PowerPoint Presentation</vt:lpstr>
      <vt:lpstr>BLOCK DIAGRAM</vt:lpstr>
      <vt:lpstr>EXPLANATION</vt:lpstr>
      <vt:lpstr>SYSTEM MODULES</vt:lpstr>
      <vt:lpstr>1.User Interface Module</vt:lpstr>
      <vt:lpstr>2.User Authentication Module</vt:lpstr>
      <vt:lpstr>3.Vehicle Registration &amp; Detection Module</vt:lpstr>
      <vt:lpstr>4.Parking Slot Management Module</vt:lpstr>
      <vt:lpstr>5. Database Management Module</vt:lpstr>
      <vt:lpstr>OUTPUT</vt:lpstr>
      <vt:lpstr>PowerPoint Presentation</vt:lpstr>
      <vt:lpstr>PowerPoint Presentation</vt:lpstr>
      <vt:lpstr>PowerPoint Presentation</vt:lpstr>
      <vt:lpstr>RESULT ANALYSIS</vt:lpstr>
      <vt:lpstr>INFERENCES</vt:lpstr>
      <vt:lpstr>LEARNING OUTCOMES</vt:lpstr>
      <vt:lpstr>FUTURE SCOPE</vt:lpstr>
      <vt:lpstr>                           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HIGHER EDUCATION FOR WOMEN</dc:title>
  <dc:creator>thenmozhi manikandan</dc:creator>
  <cp:lastModifiedBy>samvitha2006@gmail.com</cp:lastModifiedBy>
  <cp:revision>55</cp:revision>
  <dcterms:created xsi:type="dcterms:W3CDTF">2026-04-07T03:16:37Z</dcterms:created>
  <dcterms:modified xsi:type="dcterms:W3CDTF">2026-06-05T05:21:40Z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2026-04-07T00:00:00Z</vt:filetime>
  </property>
  <property fmtid="{D5CDD505-2E9C-101B-9397-08002B2CF9AE}" pid="5" name="Producer">
    <vt:lpwstr>Microsoft® PowerPoint® 2024</vt:lpwstr>
  </property>
</Properties>
</file>